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022251"/>
    <a:srgbClr val="089393"/>
    <a:srgbClr val="0F2A44"/>
    <a:srgbClr val="E55B22"/>
    <a:srgbClr val="506069"/>
    <a:srgbClr val="9BBB59"/>
    <a:srgbClr val="39B0D4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 showGuides="1">
      <p:cViewPr varScale="1">
        <p:scale>
          <a:sx n="76" d="100"/>
          <a:sy n="76" d="100"/>
        </p:scale>
        <p:origin x="754" y="53"/>
      </p:cViewPr>
      <p:guideLst>
        <p:guide orient="horz" pos="2130"/>
        <p:guide pos="389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690">
        <p:split orient="vert"/>
      </p:transition>
    </mc:Choice>
    <mc:Fallback xmlns="">
      <p:transition spd="med">
        <p:split orient="vert"/>
      </p:transition>
    </mc:Fallback>
  </mc:AlternateConten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ealth-aid-relay.lovable.app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dashboard.abdm.gov.in/abdm/" TargetMode="External"/><Relationship Id="rId7" Type="http://schemas.openxmlformats.org/officeDocument/2006/relationships/hyperlink" Target="https://www.india.gov.in/directory/helplin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mis.mohfw.gov.in/" TargetMode="External"/><Relationship Id="rId5" Type="http://schemas.openxmlformats.org/officeDocument/2006/relationships/hyperlink" Target="https://www.google.com/search?q=https://hpr.abdm.gov.in/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facility.abdm.gov.in/" TargetMode="External"/><Relationship Id="rId9" Type="http://schemas.openxmlformats.org/officeDocument/2006/relationships/hyperlink" Target="https://health-aid-relay.lovable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-1040493" y="-1092112"/>
            <a:ext cx="13394546" cy="3702576"/>
          </a:xfrm>
        </p:spPr>
        <p:txBody>
          <a:bodyPr/>
          <a:lstStyle/>
          <a:p>
            <a:pPr algn="ctr"/>
            <a:r>
              <a:rPr sz="3600" b="1" dirty="0">
                <a:solidFill>
                  <a:srgbClr val="0F2A44"/>
                </a:solidFill>
                <a:latin typeface="Aptos"/>
              </a:rPr>
              <a:t>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6612" y="1728811"/>
            <a:ext cx="6772613" cy="40900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sz="2270" b="1" dirty="0">
                <a:solidFill>
                  <a:srgbClr val="23313A"/>
                </a:solidFill>
                <a:latin typeface="Aptos"/>
              </a:rPr>
              <a:t>Problem Statement ID </a:t>
            </a:r>
            <a:r>
              <a:rPr sz="2270" b="0" dirty="0">
                <a:solidFill>
                  <a:srgbClr val="23313A"/>
                </a:solidFill>
                <a:latin typeface="Aptos"/>
              </a:rPr>
              <a:t>– </a:t>
            </a:r>
            <a:r>
              <a:rPr lang="en-US" sz="2270" b="1" dirty="0">
                <a:solidFill>
                  <a:srgbClr val="E55B22"/>
                </a:solidFill>
                <a:latin typeface="Aptos"/>
              </a:rPr>
              <a:t>26199</a:t>
            </a:r>
          </a:p>
          <a:p>
            <a:pPr algn="l"/>
            <a:r>
              <a:rPr lang="en-US" sz="2270" b="0" dirty="0">
                <a:solidFill>
                  <a:srgbClr val="23313A"/>
                </a:solidFill>
                <a:latin typeface="Aptos"/>
              </a:rPr>
              <a:t>
</a:t>
            </a:r>
            <a:r>
              <a:rPr lang="en-US" sz="2270" b="1" dirty="0">
                <a:solidFill>
                  <a:srgbClr val="23313A"/>
                </a:solidFill>
                <a:latin typeface="Aptos"/>
              </a:rPr>
              <a:t>Problem Statement Title </a:t>
            </a:r>
            <a:r>
              <a:rPr lang="en-US" sz="2270" b="0" dirty="0">
                <a:solidFill>
                  <a:srgbClr val="23313A"/>
                </a:solidFill>
                <a:latin typeface="Aptos"/>
              </a:rPr>
              <a:t>– </a:t>
            </a:r>
            <a:r>
              <a:rPr lang="en-US" sz="2270" b="1" dirty="0">
                <a:solidFill>
                  <a:srgbClr val="E55B22"/>
                </a:solidFill>
                <a:latin typeface="Aptos"/>
              </a:rPr>
              <a:t>Student</a:t>
            </a:r>
            <a:r>
              <a:rPr lang="en-US" sz="2270" b="1" dirty="0">
                <a:solidFill>
                  <a:srgbClr val="23313A"/>
                </a:solidFill>
                <a:latin typeface="Aptos"/>
              </a:rPr>
              <a:t> </a:t>
            </a:r>
            <a:r>
              <a:rPr lang="en-US" sz="2270" b="1" dirty="0">
                <a:solidFill>
                  <a:srgbClr val="00B050"/>
                </a:solidFill>
                <a:latin typeface="Aptos"/>
              </a:rPr>
              <a:t>Innovation</a:t>
            </a:r>
          </a:p>
          <a:p>
            <a:pPr algn="l"/>
            <a:r>
              <a:rPr lang="en-US" sz="2270" b="0" dirty="0">
                <a:solidFill>
                  <a:srgbClr val="23313A"/>
                </a:solidFill>
                <a:latin typeface="Aptos"/>
              </a:rPr>
              <a:t>
</a:t>
            </a:r>
            <a:r>
              <a:rPr lang="en-US" sz="2270" b="1" dirty="0">
                <a:solidFill>
                  <a:srgbClr val="23313A"/>
                </a:solidFill>
                <a:latin typeface="Aptos"/>
              </a:rPr>
              <a:t>Theme</a:t>
            </a:r>
            <a:r>
              <a:rPr lang="en-US" sz="2270" b="0" dirty="0">
                <a:solidFill>
                  <a:srgbClr val="23313A"/>
                </a:solidFill>
                <a:latin typeface="Aptos"/>
              </a:rPr>
              <a:t> – </a:t>
            </a:r>
            <a:r>
              <a:rPr lang="en-US" sz="2270" b="1" dirty="0">
                <a:solidFill>
                  <a:srgbClr val="E55B22"/>
                </a:solidFill>
                <a:latin typeface="Aptos"/>
              </a:rPr>
              <a:t>Miscellaneous</a:t>
            </a:r>
          </a:p>
          <a:p>
            <a:pPr algn="l"/>
            <a:r>
              <a:rPr lang="en-US" sz="2270" b="0" dirty="0">
                <a:solidFill>
                  <a:srgbClr val="23313A"/>
                </a:solidFill>
                <a:latin typeface="Aptos"/>
              </a:rPr>
              <a:t>
</a:t>
            </a:r>
            <a:r>
              <a:rPr lang="en-US" sz="2270" b="1" dirty="0">
                <a:solidFill>
                  <a:srgbClr val="23313A"/>
                </a:solidFill>
                <a:latin typeface="Aptos"/>
              </a:rPr>
              <a:t>PS Category </a:t>
            </a:r>
            <a:r>
              <a:rPr lang="en-US" sz="2270" b="0" dirty="0">
                <a:solidFill>
                  <a:srgbClr val="23313A"/>
                </a:solidFill>
                <a:latin typeface="Aptos"/>
              </a:rPr>
              <a:t>– </a:t>
            </a:r>
            <a:r>
              <a:rPr lang="en-US" sz="2270" b="1" dirty="0">
                <a:solidFill>
                  <a:srgbClr val="00B050"/>
                </a:solidFill>
                <a:latin typeface="Aptos"/>
              </a:rPr>
              <a:t>Software</a:t>
            </a:r>
          </a:p>
          <a:p>
            <a:pPr algn="l"/>
            <a:r>
              <a:rPr lang="en-US" sz="2270" b="0" dirty="0">
                <a:solidFill>
                  <a:srgbClr val="23313A"/>
                </a:solidFill>
                <a:latin typeface="Aptos"/>
              </a:rPr>
              <a:t>
</a:t>
            </a:r>
            <a:r>
              <a:rPr lang="en-US" sz="2270" b="1" dirty="0">
                <a:solidFill>
                  <a:srgbClr val="23313A"/>
                </a:solidFill>
                <a:latin typeface="Aptos"/>
              </a:rPr>
              <a:t>Team ID </a:t>
            </a:r>
            <a:r>
              <a:rPr lang="en-US" sz="2270" b="0" dirty="0">
                <a:solidFill>
                  <a:srgbClr val="23313A"/>
                </a:solidFill>
                <a:latin typeface="Aptos"/>
              </a:rPr>
              <a:t>–</a:t>
            </a:r>
          </a:p>
          <a:p>
            <a:pPr algn="l"/>
            <a:r>
              <a:rPr lang="en-US" sz="2270" b="0" dirty="0">
                <a:solidFill>
                  <a:srgbClr val="23313A"/>
                </a:solidFill>
                <a:latin typeface="Aptos"/>
              </a:rPr>
              <a:t>
</a:t>
            </a:r>
            <a:r>
              <a:rPr lang="en-US" sz="2270" b="1" dirty="0">
                <a:solidFill>
                  <a:srgbClr val="23313A"/>
                </a:solidFill>
                <a:latin typeface="Aptos"/>
              </a:rPr>
              <a:t>Team Name </a:t>
            </a:r>
            <a:r>
              <a:rPr lang="en-US" sz="2270" b="0" dirty="0">
                <a:solidFill>
                  <a:srgbClr val="23313A"/>
                </a:solidFill>
                <a:latin typeface="Aptos"/>
              </a:rPr>
              <a:t>– </a:t>
            </a:r>
            <a:r>
              <a:rPr lang="en-US" sz="2270" b="1" dirty="0" err="1">
                <a:solidFill>
                  <a:srgbClr val="23313A"/>
                </a:solidFill>
                <a:latin typeface="Aptos"/>
              </a:rPr>
              <a:t>HackNova</a:t>
            </a:r>
            <a:endParaRPr lang="en-US" sz="2270" b="1" dirty="0">
              <a:solidFill>
                <a:srgbClr val="089393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6612" y="462042"/>
            <a:ext cx="1502924" cy="778958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4401" y="6434031"/>
            <a:ext cx="5026742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@HackNova – Student Innovation and Technology ideas in Tertiary Sectors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91" y="497750"/>
            <a:ext cx="1425677" cy="534629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83815" y="16676"/>
            <a:ext cx="11255634" cy="1543826"/>
          </a:xfrm>
        </p:spPr>
        <p:txBody>
          <a:bodyPr/>
          <a:lstStyle/>
          <a:p>
            <a:pPr algn="l" eaLnBrk="1" hangingPunct="1"/>
            <a:br>
              <a:rPr lang="en-US" sz="2800" b="1" dirty="0">
                <a:solidFill>
                  <a:srgbClr val="0F2A44"/>
                </a:solidFill>
                <a:latin typeface="Aptos"/>
              </a:rPr>
            </a:br>
            <a:endParaRPr sz="2800" b="1" dirty="0">
              <a:solidFill>
                <a:srgbClr val="0F2A44"/>
              </a:solidFill>
              <a:latin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26EB41-E28D-AB8C-D531-55DFDEB8BBC3}"/>
              </a:ext>
            </a:extLst>
          </p:cNvPr>
          <p:cNvSpPr/>
          <p:nvPr/>
        </p:nvSpPr>
        <p:spPr>
          <a:xfrm>
            <a:off x="408633" y="1252563"/>
            <a:ext cx="5687367" cy="45855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DFD7F9-AB39-D157-7132-AE90BC8A68FE}"/>
              </a:ext>
            </a:extLst>
          </p:cNvPr>
          <p:cNvSpPr txBox="1"/>
          <p:nvPr/>
        </p:nvSpPr>
        <p:spPr>
          <a:xfrm>
            <a:off x="548908" y="2213268"/>
            <a:ext cx="5419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Ambulance Drivers Struggle to track exact location of the patient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Many of the people Can't Find a Right Hospital for their Problem</a:t>
            </a:r>
          </a:p>
          <a:p>
            <a:pPr lvl="0"/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57934-2453-9825-17AA-EFF62CE596F2}"/>
              </a:ext>
            </a:extLst>
          </p:cNvPr>
          <p:cNvSpPr txBox="1"/>
          <p:nvPr/>
        </p:nvSpPr>
        <p:spPr>
          <a:xfrm>
            <a:off x="1819368" y="1348292"/>
            <a:ext cx="296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PROBLEMS/CHALLENGES</a:t>
            </a:r>
            <a:endParaRPr lang="en-IN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7FABD8-3B93-3934-211E-C79C2212ED69}"/>
              </a:ext>
            </a:extLst>
          </p:cNvPr>
          <p:cNvSpPr/>
          <p:nvPr/>
        </p:nvSpPr>
        <p:spPr>
          <a:xfrm>
            <a:off x="6361008" y="1205012"/>
            <a:ext cx="5513195" cy="342727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86485-C7DF-01D9-EB5A-E89DBAB35382}"/>
              </a:ext>
            </a:extLst>
          </p:cNvPr>
          <p:cNvSpPr txBox="1"/>
          <p:nvPr/>
        </p:nvSpPr>
        <p:spPr>
          <a:xfrm>
            <a:off x="548908" y="1896391"/>
            <a:ext cx="6340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•     </a:t>
            </a:r>
            <a:r>
              <a:rPr lang="en-US" sz="1400" b="1" dirty="0"/>
              <a:t>The Death rate is increasing due to lack of resources</a:t>
            </a:r>
          </a:p>
          <a:p>
            <a:endParaRPr lang="en-IN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EECB78-EC20-A542-F3F8-EE4E3967039B}"/>
              </a:ext>
            </a:extLst>
          </p:cNvPr>
          <p:cNvSpPr txBox="1"/>
          <p:nvPr/>
        </p:nvSpPr>
        <p:spPr>
          <a:xfrm>
            <a:off x="8107999" y="1424215"/>
            <a:ext cx="5195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OUR INNOVATION </a:t>
            </a:r>
            <a:endParaRPr lang="en-IN" sz="1600" b="1" dirty="0"/>
          </a:p>
          <a:p>
            <a:endParaRPr lang="en-IN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7DBC18-2FC1-EFB3-64B5-7016F13B6558}"/>
              </a:ext>
            </a:extLst>
          </p:cNvPr>
          <p:cNvSpPr txBox="1"/>
          <p:nvPr/>
        </p:nvSpPr>
        <p:spPr>
          <a:xfrm>
            <a:off x="6447124" y="2088752"/>
            <a:ext cx="51959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Saving lives through connected Healthcare and Microservices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An AI integrated smart healthcare network that connects patients, doctors, hospitals, ambulances, and administrators to deliver faster emergency response, seamless healthcare access, digital health management, and Automated analytics reports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30F4A6-BB89-44BC-48C8-ED24681F5A81}"/>
              </a:ext>
            </a:extLst>
          </p:cNvPr>
          <p:cNvCxnSpPr>
            <a:cxnSpLocks/>
          </p:cNvCxnSpPr>
          <p:nvPr/>
        </p:nvCxnSpPr>
        <p:spPr>
          <a:xfrm>
            <a:off x="6353907" y="1868877"/>
            <a:ext cx="5513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AC62AD1-FD73-3BB4-7E1E-49E2C3444594}"/>
              </a:ext>
            </a:extLst>
          </p:cNvPr>
          <p:cNvSpPr/>
          <p:nvPr/>
        </p:nvSpPr>
        <p:spPr>
          <a:xfrm>
            <a:off x="813916" y="3074796"/>
            <a:ext cx="4752871" cy="4094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7F264-5F56-FBB1-C3D7-564D86DD9979}"/>
              </a:ext>
            </a:extLst>
          </p:cNvPr>
          <p:cNvSpPr txBox="1"/>
          <p:nvPr/>
        </p:nvSpPr>
        <p:spPr>
          <a:xfrm>
            <a:off x="918149" y="3147646"/>
            <a:ext cx="4913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     REAL WORLD EXAMPLES REGARDING THE ABOVE STATEMENTS</a:t>
            </a:r>
            <a:endParaRPr lang="en-IN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4147F7-1454-08A9-4D7B-D39215AE6C10}"/>
              </a:ext>
            </a:extLst>
          </p:cNvPr>
          <p:cNvSpPr txBox="1"/>
          <p:nvPr/>
        </p:nvSpPr>
        <p:spPr>
          <a:xfrm>
            <a:off x="813916" y="3557102"/>
            <a:ext cx="466243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50" dirty="0"/>
              <a:t>In </a:t>
            </a:r>
            <a:r>
              <a:rPr lang="en-US" sz="1050" b="1" dirty="0"/>
              <a:t>2017</a:t>
            </a:r>
            <a:r>
              <a:rPr lang="en-US" sz="1050" dirty="0"/>
              <a:t>, a </a:t>
            </a:r>
            <a:r>
              <a:rPr lang="en-US" sz="1050" b="1" dirty="0"/>
              <a:t>14-year-old kidney patient </a:t>
            </a:r>
            <a:r>
              <a:rPr lang="en-US" sz="1050" dirty="0"/>
              <a:t>in Kanchipuram reportedly waited nearly </a:t>
            </a:r>
            <a:r>
              <a:rPr lang="en-US" sz="1050" b="1" dirty="0"/>
              <a:t>7 hours for an ambulance to transfer her from Kanchipuram to Chennai</a:t>
            </a:r>
            <a:r>
              <a:rPr lang="en-US" sz="1050" dirty="0"/>
              <a:t>. </a:t>
            </a:r>
            <a:r>
              <a:rPr lang="en-US" sz="1050" b="1" dirty="0"/>
              <a:t>She died during the delay.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7960D9-D936-2755-D281-4CAAB057C9A2}"/>
              </a:ext>
            </a:extLst>
          </p:cNvPr>
          <p:cNvSpPr txBox="1"/>
          <p:nvPr/>
        </p:nvSpPr>
        <p:spPr>
          <a:xfrm>
            <a:off x="970374" y="4077092"/>
            <a:ext cx="46624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                                                            </a:t>
            </a:r>
            <a:r>
              <a:rPr lang="en-IN" sz="1000" b="1" u="sng" dirty="0"/>
              <a:t>The Struggle</a:t>
            </a:r>
          </a:p>
          <a:p>
            <a:r>
              <a:rPr lang="en-IN" sz="1000" b="1" dirty="0"/>
              <a:t> </a:t>
            </a:r>
          </a:p>
          <a:p>
            <a:r>
              <a:rPr lang="en-IN" sz="1000" dirty="0"/>
              <a:t>The hospital's </a:t>
            </a:r>
            <a:r>
              <a:rPr lang="en-IN" sz="1000" b="1" dirty="0"/>
              <a:t>ambulance drivers were unavailable</a:t>
            </a:r>
            <a:r>
              <a:rPr lang="en-IN" sz="1000" dirty="0"/>
              <a:t> because it was a Sunday, and </a:t>
            </a:r>
            <a:r>
              <a:rPr lang="en-IN" sz="1000" b="1" dirty="0"/>
              <a:t>calls to the emergency 108 ambulance service faced severe delays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9DFC80-057C-E3E9-6E38-C236E17081E5}"/>
              </a:ext>
            </a:extLst>
          </p:cNvPr>
          <p:cNvSpPr txBox="1"/>
          <p:nvPr/>
        </p:nvSpPr>
        <p:spPr>
          <a:xfrm>
            <a:off x="813916" y="4797981"/>
            <a:ext cx="37462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2.  In </a:t>
            </a:r>
            <a:r>
              <a:rPr lang="en-IN" sz="1050" b="1" dirty="0"/>
              <a:t>2024</a:t>
            </a:r>
            <a:r>
              <a:rPr lang="en-IN" sz="1050" dirty="0"/>
              <a:t>, </a:t>
            </a:r>
            <a:r>
              <a:rPr lang="en-IN" sz="1050" b="1" dirty="0"/>
              <a:t>Karnataka around 90,000 road-crash victims </a:t>
            </a:r>
            <a:r>
              <a:rPr lang="en-IN" sz="1050" dirty="0"/>
              <a:t>did </a:t>
            </a:r>
            <a:r>
              <a:rPr lang="en-IN" sz="1050" b="1" dirty="0"/>
              <a:t>no</a:t>
            </a:r>
            <a:r>
              <a:rPr lang="en-IN" sz="1050" dirty="0"/>
              <a:t>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51DDAA-F98A-3D52-FB28-9A28612695E0}"/>
              </a:ext>
            </a:extLst>
          </p:cNvPr>
          <p:cNvSpPr txBox="1"/>
          <p:nvPr/>
        </p:nvSpPr>
        <p:spPr>
          <a:xfrm>
            <a:off x="956137" y="4944564"/>
            <a:ext cx="80185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 </a:t>
            </a:r>
            <a:r>
              <a:rPr lang="en-IN" sz="1050" b="1" dirty="0"/>
              <a:t>receive timely medical care.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E073B3-ACF3-0912-EDDE-D6C0F23F886F}"/>
              </a:ext>
            </a:extLst>
          </p:cNvPr>
          <p:cNvSpPr txBox="1"/>
          <p:nvPr/>
        </p:nvSpPr>
        <p:spPr>
          <a:xfrm>
            <a:off x="807191" y="5189939"/>
            <a:ext cx="480651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3.  India records nearly about </a:t>
            </a:r>
            <a:r>
              <a:rPr lang="en-IN" sz="1050" b="1" dirty="0"/>
              <a:t>40,000 deaths in a day due to lack of resources and faults of ambulance services</a:t>
            </a:r>
            <a:endParaRPr lang="en-IN" sz="105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3D2F445-2D1A-58B3-BA0F-0C5BAECB8280}"/>
              </a:ext>
            </a:extLst>
          </p:cNvPr>
          <p:cNvSpPr/>
          <p:nvPr/>
        </p:nvSpPr>
        <p:spPr>
          <a:xfrm>
            <a:off x="6547604" y="4839219"/>
            <a:ext cx="5122280" cy="9561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85BEED-9AA8-938C-48B3-43A5D85BEE76}"/>
              </a:ext>
            </a:extLst>
          </p:cNvPr>
          <p:cNvSpPr txBox="1"/>
          <p:nvPr/>
        </p:nvSpPr>
        <p:spPr>
          <a:xfrm>
            <a:off x="6576519" y="4991328"/>
            <a:ext cx="5036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Through </a:t>
            </a:r>
            <a:r>
              <a:rPr lang="en-US" sz="1600" b="1" dirty="0">
                <a:hlinkClick r:id="rId5"/>
              </a:rPr>
              <a:t>MEDILINK</a:t>
            </a:r>
            <a:r>
              <a:rPr lang="en-US" sz="1600" b="1" dirty="0"/>
              <a:t> these kind of problems may reduce in INDIA</a:t>
            </a:r>
            <a:endParaRPr lang="en-IN" sz="16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9" y="628906"/>
            <a:ext cx="9291945" cy="5821055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542211" y="-175644"/>
            <a:ext cx="10972800" cy="1143000"/>
          </a:xfrm>
        </p:spPr>
        <p:txBody>
          <a:bodyPr/>
          <a:lstStyle/>
          <a:p>
            <a:pPr algn="l" eaLnBrk="1" hangingPunct="1"/>
            <a:r>
              <a:rPr sz="2400" b="1" dirty="0">
                <a:solidFill>
                  <a:srgbClr val="0F2A44"/>
                </a:solidFill>
                <a:latin typeface="Aptos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35" name="Rounded Rectangle 17434"/>
          <p:cNvSpPr/>
          <p:nvPr/>
        </p:nvSpPr>
        <p:spPr>
          <a:xfrm rot="10800000">
            <a:off x="10054089" y="2794595"/>
            <a:ext cx="1773838" cy="3451479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dirty="0"/>
          </a:p>
        </p:txBody>
      </p:sp>
      <p:sp>
        <p:nvSpPr>
          <p:cNvPr id="17436" name="TextBox 17435"/>
          <p:cNvSpPr txBox="1"/>
          <p:nvPr/>
        </p:nvSpPr>
        <p:spPr>
          <a:xfrm>
            <a:off x="10059520" y="1710389"/>
            <a:ext cx="2180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atin typeface="Aptos"/>
              </a:rPr>
              <a:t> TECHNOLOGIES</a:t>
            </a:r>
          </a:p>
          <a:p>
            <a:pPr algn="l"/>
            <a:r>
              <a:rPr lang="en-US" sz="1400" b="1" dirty="0">
                <a:latin typeface="Aptos"/>
              </a:rPr>
              <a:t> USED FOR DEMO</a:t>
            </a:r>
            <a:endParaRPr sz="1400" b="1" dirty="0">
              <a:latin typeface="Aptos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10059520" y="1720208"/>
            <a:ext cx="1666039" cy="52142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91" y="497750"/>
            <a:ext cx="1425677" cy="53462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4312" y="2926189"/>
            <a:ext cx="499564" cy="49956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3476" y="4043084"/>
            <a:ext cx="500400" cy="50040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9277" y="5229172"/>
            <a:ext cx="500400" cy="5004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9871" y="2918396"/>
            <a:ext cx="500400" cy="50040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59915" y="4019935"/>
            <a:ext cx="500400" cy="500400"/>
          </a:xfrm>
          <a:prstGeom prst="rect">
            <a:avLst/>
          </a:prstGeom>
        </p:spPr>
      </p:pic>
      <p:pic>
        <p:nvPicPr>
          <p:cNvPr id="17445" name="Picture 174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70345" y="5196139"/>
            <a:ext cx="504000" cy="504000"/>
          </a:xfrm>
          <a:prstGeom prst="rect">
            <a:avLst/>
          </a:prstGeom>
        </p:spPr>
      </p:pic>
      <p:cxnSp>
        <p:nvCxnSpPr>
          <p:cNvPr id="17468" name="Straight Arrow Connector 17467"/>
          <p:cNvCxnSpPr>
            <a:cxnSpLocks/>
            <a:stCxn id="35" idx="2"/>
          </p:cNvCxnSpPr>
          <p:nvPr/>
        </p:nvCxnSpPr>
        <p:spPr>
          <a:xfrm>
            <a:off x="10892540" y="2241628"/>
            <a:ext cx="12471" cy="53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76" name="TextBox 17475"/>
          <p:cNvSpPr txBox="1"/>
          <p:nvPr/>
        </p:nvSpPr>
        <p:spPr>
          <a:xfrm>
            <a:off x="10269286" y="3425718"/>
            <a:ext cx="9388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React</a:t>
            </a:r>
            <a:endParaRPr lang="en-IN" sz="1100" dirty="0"/>
          </a:p>
        </p:txBody>
      </p:sp>
      <p:sp>
        <p:nvSpPr>
          <p:cNvPr id="17478" name="TextBox 17477"/>
          <p:cNvSpPr txBox="1"/>
          <p:nvPr/>
        </p:nvSpPr>
        <p:spPr>
          <a:xfrm>
            <a:off x="10153034" y="4571600"/>
            <a:ext cx="9388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TypeScript</a:t>
            </a:r>
            <a:endParaRPr lang="en-IN" sz="1100" dirty="0"/>
          </a:p>
        </p:txBody>
      </p:sp>
      <p:sp>
        <p:nvSpPr>
          <p:cNvPr id="17484" name="TextBox 17483"/>
          <p:cNvSpPr txBox="1"/>
          <p:nvPr/>
        </p:nvSpPr>
        <p:spPr>
          <a:xfrm>
            <a:off x="10289561" y="5825334"/>
            <a:ext cx="9388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Vite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10922367" y="3425753"/>
            <a:ext cx="9388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Tailwind CSS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11001699" y="4571600"/>
            <a:ext cx="9388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PostgreSQL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11103235" y="5830626"/>
            <a:ext cx="9388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Lovable</a:t>
            </a:r>
            <a:endParaRPr lang="en-IN" sz="1100" dirty="0"/>
          </a:p>
        </p:txBody>
      </p:sp>
      <p:sp>
        <p:nvSpPr>
          <p:cNvPr id="3" name="Rounded Rectangle 17434">
            <a:extLst>
              <a:ext uri="{FF2B5EF4-FFF2-40B4-BE49-F238E27FC236}">
                <a16:creationId xmlns:a16="http://schemas.microsoft.com/office/drawing/2014/main" id="{3F680273-A576-D92F-9482-F6A27ACF7ED1}"/>
              </a:ext>
            </a:extLst>
          </p:cNvPr>
          <p:cNvSpPr/>
          <p:nvPr/>
        </p:nvSpPr>
        <p:spPr>
          <a:xfrm rot="10800000">
            <a:off x="8364560" y="963106"/>
            <a:ext cx="1301505" cy="1062338"/>
          </a:xfrm>
          <a:prstGeom prst="roundRect">
            <a:avLst/>
          </a:prstGeom>
          <a:solidFill>
            <a:srgbClr val="F0F7F9"/>
          </a:solidFill>
          <a:ln>
            <a:solidFill>
              <a:srgbClr val="F0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5C2214F-EB5E-1DE8-AD8D-FF5CC795AC68}"/>
              </a:ext>
            </a:extLst>
          </p:cNvPr>
          <p:cNvCxnSpPr>
            <a:cxnSpLocks/>
            <a:stCxn id="35" idx="0"/>
            <a:endCxn id="3" idx="1"/>
          </p:cNvCxnSpPr>
          <p:nvPr/>
        </p:nvCxnSpPr>
        <p:spPr>
          <a:xfrm rot="16200000" flipV="1">
            <a:off x="10166337" y="994004"/>
            <a:ext cx="225933" cy="12264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C615DBA5-882C-5159-7B04-E1631A5C9E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5406" y="1126352"/>
            <a:ext cx="275304" cy="2753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F951B6-0DF6-493D-8AB5-A6109C3F6C21}"/>
              </a:ext>
            </a:extLst>
          </p:cNvPr>
          <p:cNvSpPr txBox="1"/>
          <p:nvPr/>
        </p:nvSpPr>
        <p:spPr>
          <a:xfrm>
            <a:off x="8695639" y="1139997"/>
            <a:ext cx="17738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API, AI Integrated</a:t>
            </a:r>
            <a:endParaRPr lang="en-IN" sz="9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02DA75-E1EF-6A63-EFC1-1E7BF9A42CCF}"/>
              </a:ext>
            </a:extLst>
          </p:cNvPr>
          <p:cNvSpPr txBox="1"/>
          <p:nvPr/>
        </p:nvSpPr>
        <p:spPr>
          <a:xfrm>
            <a:off x="8878570" y="1301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0848B69-9F38-ED44-0A49-C3F9BF86BEC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V="1">
            <a:off x="8391157" y="1596682"/>
            <a:ext cx="369332" cy="3693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E9EBDCB-4D2A-7993-6B86-8246A045B0FE}"/>
              </a:ext>
            </a:extLst>
          </p:cNvPr>
          <p:cNvSpPr txBox="1"/>
          <p:nvPr/>
        </p:nvSpPr>
        <p:spPr>
          <a:xfrm>
            <a:off x="8750710" y="1656355"/>
            <a:ext cx="1773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BACKEND</a:t>
            </a:r>
          </a:p>
          <a:p>
            <a:endParaRPr lang="en-IN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6D8EFA-B368-3794-9CE0-4C5B39981D42}"/>
              </a:ext>
            </a:extLst>
          </p:cNvPr>
          <p:cNvSpPr txBox="1"/>
          <p:nvPr/>
        </p:nvSpPr>
        <p:spPr>
          <a:xfrm>
            <a:off x="8690962" y="1795437"/>
            <a:ext cx="16531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(</a:t>
            </a:r>
            <a:r>
              <a:rPr lang="en-US" sz="800" b="1" dirty="0" err="1"/>
              <a:t>Auth+Storage</a:t>
            </a:r>
            <a:r>
              <a:rPr lang="en-US" sz="800" b="1" dirty="0"/>
              <a:t>)</a:t>
            </a:r>
            <a:endParaRPr lang="en-IN" sz="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1261033" y="1274550"/>
            <a:ext cx="4002049" cy="5287905"/>
          </a:xfrm>
          <a:prstGeom prst="roundRect">
            <a:avLst/>
          </a:prstGeom>
          <a:solidFill>
            <a:srgbClr val="F0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IN" sz="1400" b="1" dirty="0">
              <a:solidFill>
                <a:schemeClr val="tx1"/>
              </a:solidFill>
            </a:endParaRPr>
          </a:p>
          <a:p>
            <a:pPr lvl="0" algn="ctr"/>
            <a:r>
              <a:rPr lang="en-US" altLang="en-IN" sz="2000" b="1" u="sng" dirty="0">
                <a:solidFill>
                  <a:schemeClr val="tx2">
                    <a:lumMod val="75000"/>
                  </a:schemeClr>
                </a:solidFill>
                <a:latin typeface="Lucida Fax" panose="02060602050505020204" charset="0"/>
                <a:cs typeface="Lucida Fax" panose="02060602050505020204" charset="0"/>
              </a:rPr>
              <a:t>FEASIBILITY</a:t>
            </a:r>
            <a:endParaRPr lang="en-IN" sz="2000" b="1" dirty="0">
              <a:solidFill>
                <a:schemeClr val="tx2">
                  <a:lumMod val="75000"/>
                </a:schemeClr>
              </a:solidFill>
              <a:latin typeface="Lucida Fax" panose="02060602050505020204" charset="0"/>
              <a:cs typeface="Lucida Fax" panose="02060602050505020204" charset="0"/>
            </a:endParaRPr>
          </a:p>
          <a:p>
            <a:pPr lvl="0"/>
            <a:endParaRPr lang="en-IN" sz="1400" b="1" dirty="0">
              <a:solidFill>
                <a:schemeClr val="tx1"/>
              </a:solidFill>
            </a:endParaRPr>
          </a:p>
          <a:p>
            <a:pPr lvl="0"/>
            <a:endParaRPr lang="en-IN" sz="1400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Technically Possible:</a:t>
            </a:r>
            <a:r>
              <a:rPr lang="en-IN" sz="1400" dirty="0">
                <a:solidFill>
                  <a:schemeClr val="tx1"/>
                </a:solidFill>
              </a:rPr>
              <a:t> Uses GPS, cloud, AI, and databases to connect users with healthcare services.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Easy to Scale:</a:t>
            </a:r>
            <a:r>
              <a:rPr lang="en-IN" sz="1400" dirty="0">
                <a:solidFill>
                  <a:schemeClr val="tx1"/>
                </a:solidFill>
              </a:rPr>
              <a:t> Can start with a few hospitals and expand to multiple cities.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Cost-Effective:</a:t>
            </a:r>
            <a:r>
              <a:rPr lang="en-IN" sz="1400" dirty="0">
                <a:solidFill>
                  <a:schemeClr val="tx1"/>
                </a:solidFill>
              </a:rPr>
              <a:t> Uses existing digital infrastructure with minimal physical setup.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Verified Data:</a:t>
            </a:r>
            <a:r>
              <a:rPr lang="en-IN" sz="1400" dirty="0">
                <a:solidFill>
                  <a:schemeClr val="tx1"/>
                </a:solidFill>
              </a:rPr>
              <a:t> Hospitals and authorized providers can update resource availability.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Fast Implementation:</a:t>
            </a:r>
            <a:r>
              <a:rPr lang="en-IN" sz="1400" dirty="0">
                <a:solidFill>
                  <a:schemeClr val="tx1"/>
                </a:solidFill>
              </a:rPr>
              <a:t> The basic platform can be developed and tested using existing technologies.</a:t>
            </a:r>
          </a:p>
          <a:p>
            <a:pPr algn="ctr"/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7414" name="Rounded Rectangle 17413"/>
          <p:cNvSpPr/>
          <p:nvPr/>
        </p:nvSpPr>
        <p:spPr>
          <a:xfrm>
            <a:off x="6539696" y="1274695"/>
            <a:ext cx="4002049" cy="5324590"/>
          </a:xfrm>
          <a:prstGeom prst="roundRect">
            <a:avLst/>
          </a:prstGeom>
          <a:solidFill>
            <a:srgbClr val="F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b="1" u="sng" dirty="0">
                <a:solidFill>
                  <a:srgbClr val="022251"/>
                </a:solidFill>
                <a:latin typeface="Lucida Fax" panose="02060602050505020204" charset="0"/>
                <a:cs typeface="Lucida Fax" panose="02060602050505020204" charset="0"/>
              </a:rPr>
              <a:t>VIABILITY</a:t>
            </a:r>
            <a:endParaRPr lang="en-US" altLang="en-US" sz="2000" b="1" dirty="0">
              <a:solidFill>
                <a:srgbClr val="022251"/>
              </a:solidFill>
              <a:latin typeface="Lucida Fax" panose="02060602050505020204" charset="0"/>
              <a:cs typeface="Lucida Fax" panose="02060602050505020204" charset="0"/>
            </a:endParaRPr>
          </a:p>
          <a:p>
            <a:pPr algn="l"/>
            <a:endParaRPr lang="en-US" altLang="en-US" sz="1400" b="1" dirty="0">
              <a:solidFill>
                <a:srgbClr val="02225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022251"/>
                </a:solidFill>
              </a:rPr>
              <a:t>Solves a Real Problem:</a:t>
            </a:r>
            <a:r>
              <a:rPr lang="en-US" altLang="en-US" sz="1400" dirty="0">
                <a:solidFill>
                  <a:srgbClr val="022251"/>
                </a:solidFill>
              </a:rPr>
              <a:t> Reduces delays and find emergency medical resources.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02225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022251"/>
                </a:solidFill>
              </a:rPr>
              <a:t>High Social Impact:</a:t>
            </a:r>
            <a:r>
              <a:rPr lang="en-US" altLang="en-US" sz="1400" dirty="0">
                <a:solidFill>
                  <a:srgbClr val="022251"/>
                </a:solidFill>
              </a:rPr>
              <a:t> Can help patients access hospitals, blood, oxygen, beds, and ambulances faster.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02225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022251"/>
                </a:solidFill>
              </a:rPr>
              <a:t>Hospital Partnerships:</a:t>
            </a:r>
            <a:r>
              <a:rPr lang="en-US" altLang="en-US" sz="1400" dirty="0">
                <a:solidFill>
                  <a:srgbClr val="022251"/>
                </a:solidFill>
              </a:rPr>
              <a:t> Hospitals, blood banks, and ambulance services can join the network.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02225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022251"/>
                </a:solidFill>
              </a:rPr>
              <a:t>Sustainable Model:</a:t>
            </a:r>
            <a:r>
              <a:rPr lang="en-US" altLang="en-US" sz="1400" dirty="0">
                <a:solidFill>
                  <a:srgbClr val="022251"/>
                </a:solidFill>
              </a:rPr>
              <a:t> Can grow through partnerships and healthcare organizations.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02225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022251"/>
                </a:solidFill>
              </a:rPr>
              <a:t>Long-Term Potential:</a:t>
            </a:r>
            <a:r>
              <a:rPr lang="en-US" altLang="en-US" sz="1400" dirty="0">
                <a:solidFill>
                  <a:srgbClr val="022251"/>
                </a:solidFill>
              </a:rPr>
              <a:t> Can expand into a wider emergency healthcare coordination platform.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91" y="497750"/>
            <a:ext cx="1425677" cy="534629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 bwMode="auto">
          <a:xfrm>
            <a:off x="3895344" y="-79163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pPr algn="l" eaLnBrk="1" hangingPunct="1"/>
            <a:r>
              <a:rPr lang="en-IN" sz="2400" b="1" dirty="0">
                <a:solidFill>
                  <a:srgbClr val="0F2A44"/>
                </a:solidFill>
                <a:latin typeface="Aptos"/>
              </a:rPr>
              <a:t>FEASIBILITY AND VIABILITY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4A50C4BA-FBDE-2E7A-352D-E13ECE220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2410"/>
            <a:ext cx="8047872" cy="416321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4401" y="6434031"/>
            <a:ext cx="5026742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@HackNova – Student Innovation and Technology ideas in Tertiary Sectors</a:t>
            </a:r>
          </a:p>
        </p:txBody>
      </p:sp>
      <p:sp>
        <p:nvSpPr>
          <p:cNvPr id="21" name="Title 1"/>
          <p:cNvSpPr txBox="1">
            <a:spLocks noGrp="1"/>
          </p:cNvSpPr>
          <p:nvPr>
            <p:ph type="title"/>
          </p:nvPr>
        </p:nvSpPr>
        <p:spPr bwMode="auto">
          <a:xfrm>
            <a:off x="3688817" y="-124611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pPr algn="l" eaLnBrk="1" hangingPunct="1"/>
            <a:r>
              <a:rPr lang="en-US" sz="2400" b="1" dirty="0">
                <a:solidFill>
                  <a:srgbClr val="0F2A44"/>
                </a:solidFill>
                <a:latin typeface="Aptos"/>
              </a:rPr>
              <a:t>MAIN IMPACTS AND BENEFITS</a:t>
            </a:r>
            <a:endParaRPr lang="en-IN" sz="2400" b="1" dirty="0">
              <a:solidFill>
                <a:srgbClr val="0F2A44"/>
              </a:solidFill>
              <a:latin typeface="Apto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91" y="497750"/>
            <a:ext cx="1425677" cy="53462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846429F-0076-22F5-B0A5-E51E24F8E5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9612" y="2310897"/>
            <a:ext cx="4690324" cy="2752948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C33EE59-33A3-E9DD-F4B2-9EAC92E7FBB6}"/>
              </a:ext>
            </a:extLst>
          </p:cNvPr>
          <p:cNvCxnSpPr/>
          <p:nvPr/>
        </p:nvCxnSpPr>
        <p:spPr>
          <a:xfrm>
            <a:off x="5358581" y="3884016"/>
            <a:ext cx="207460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17815EC-3877-10AF-2AB2-BBCB8C1EF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66474"/>
              </p:ext>
            </p:extLst>
          </p:nvPr>
        </p:nvGraphicFramePr>
        <p:xfrm>
          <a:off x="816077" y="1857464"/>
          <a:ext cx="4999624" cy="28475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9812">
                  <a:extLst>
                    <a:ext uri="{9D8B030D-6E8A-4147-A177-3AD203B41FA5}">
                      <a16:colId xmlns:a16="http://schemas.microsoft.com/office/drawing/2014/main" val="504984961"/>
                    </a:ext>
                  </a:extLst>
                </a:gridCol>
                <a:gridCol w="2499812">
                  <a:extLst>
                    <a:ext uri="{9D8B030D-6E8A-4147-A177-3AD203B41FA5}">
                      <a16:colId xmlns:a16="http://schemas.microsoft.com/office/drawing/2014/main" val="2236187286"/>
                    </a:ext>
                  </a:extLst>
                </a:gridCol>
              </a:tblGrid>
              <a:tr h="379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Official Portal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507121"/>
                  </a:ext>
                </a:extLst>
              </a:tr>
              <a:tr h="664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ABDM Real-time Dashboard &amp; 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3"/>
                        </a:rPr>
                        <a:t>dashboard.abdm.gov.in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8749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Hospital Registry (HFR)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4"/>
                        </a:rPr>
                        <a:t>facility.abdm.gov.in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406455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Doctor Registry (HPR)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5"/>
                        </a:rPr>
                        <a:t>hpr.abdm.gov.in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6182185"/>
                  </a:ext>
                </a:extLst>
              </a:tr>
              <a:tr h="379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HMIS Web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6"/>
                        </a:rPr>
                        <a:t>hmis.mohfw.gov.in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073525"/>
                  </a:ext>
                </a:extLst>
              </a:tr>
              <a:tr h="664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National Emergency 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7"/>
                        </a:rPr>
                        <a:t>india.gov.in/directory/helpline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228500"/>
                  </a:ext>
                </a:extLst>
              </a:tr>
            </a:tbl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454401" y="-47625"/>
            <a:ext cx="10972800" cy="1143000"/>
          </a:xfrm>
        </p:spPr>
        <p:txBody>
          <a:bodyPr/>
          <a:lstStyle/>
          <a:p>
            <a:pPr algn="l" eaLnBrk="1" hangingPunct="1"/>
            <a:r>
              <a:rPr sz="2400" b="1" dirty="0">
                <a:solidFill>
                  <a:srgbClr val="0F2A44"/>
                </a:solidFill>
                <a:latin typeface="Aptos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816077" y="1457166"/>
            <a:ext cx="47548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1" dirty="0">
                <a:solidFill>
                  <a:srgbClr val="007E8C"/>
                </a:solidFill>
                <a:latin typeface="Aptos"/>
              </a:rPr>
              <a:t>RESEARCH :</a:t>
            </a:r>
            <a:endParaRPr sz="1900" b="1" dirty="0">
              <a:solidFill>
                <a:srgbClr val="007E8C"/>
              </a:solidFill>
              <a:latin typeface="Aptos"/>
            </a:endParaRPr>
          </a:p>
        </p:txBody>
      </p:sp>
      <p:sp>
        <p:nvSpPr>
          <p:cNvPr id="17414" name="Rounded Rectangle 17413"/>
          <p:cNvSpPr/>
          <p:nvPr/>
        </p:nvSpPr>
        <p:spPr>
          <a:xfrm>
            <a:off x="6173919" y="1727236"/>
            <a:ext cx="5074920" cy="3055532"/>
          </a:xfrm>
          <a:prstGeom prst="roundRect">
            <a:avLst/>
          </a:prstGeom>
          <a:solidFill>
            <a:srgbClr val="F5F6FB"/>
          </a:solidFill>
          <a:ln>
            <a:solidFill>
              <a:srgbClr val="F5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418663" y="1826386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0F2A44"/>
                </a:solidFill>
                <a:latin typeface="Aptos"/>
              </a:rPr>
              <a:t>PRODUCT / POLICY REFERENCES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18663" y="2201809"/>
            <a:ext cx="4621161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313A"/>
                </a:solidFill>
                <a:latin typeface="Aptos"/>
              </a:defRPr>
            </a:pPr>
            <a:r>
              <a:rPr lang="en-IN" sz="1400" dirty="0">
                <a:solidFill>
                  <a:srgbClr val="23313A"/>
                </a:solidFill>
                <a:latin typeface="Aptos"/>
              </a:rPr>
              <a:t>An emergency and hospital collaboration platform: instant SOS with ambulance dispatch, hospital discovery with live routing, appointments, medical records and a hospital-to-hospital resource exchange network.</a:t>
            </a:r>
            <a:endParaRPr lang="en-IN" sz="1400" dirty="0"/>
          </a:p>
          <a:p>
            <a:pPr>
              <a:spcAft>
                <a:spcPts val="400"/>
              </a:spcAft>
              <a:defRPr sz="1300">
                <a:solidFill>
                  <a:srgbClr val="23313A"/>
                </a:solidFill>
                <a:latin typeface="Aptos"/>
              </a:defRPr>
            </a:pPr>
            <a:endParaRPr lang="en-IN" sz="1400" dirty="0"/>
          </a:p>
          <a:p>
            <a:pPr>
              <a:spcAft>
                <a:spcPts val="400"/>
              </a:spcAft>
              <a:defRPr sz="1300">
                <a:solidFill>
                  <a:srgbClr val="23313A"/>
                </a:solidFill>
                <a:latin typeface="Aptos"/>
              </a:defRPr>
            </a:pPr>
            <a:endParaRPr lang="en-IN" sz="1400" dirty="0"/>
          </a:p>
          <a:p>
            <a:pPr>
              <a:spcAft>
                <a:spcPts val="400"/>
              </a:spcAft>
              <a:defRPr sz="1300">
                <a:solidFill>
                  <a:srgbClr val="23313A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dirty="0" err="1"/>
              <a:t>MediLink</a:t>
            </a:r>
            <a:r>
              <a:rPr sz="1400" dirty="0"/>
              <a:t> </a:t>
            </a:r>
            <a:r>
              <a:rPr lang="en-IN" sz="1400" dirty="0"/>
              <a:t>prototype </a:t>
            </a:r>
            <a:r>
              <a:rPr sz="1400" dirty="0"/>
              <a:t>:</a:t>
            </a:r>
            <a:r>
              <a:rPr lang="en-US" sz="1400" dirty="0"/>
              <a:t> </a:t>
            </a:r>
            <a:r>
              <a:rPr lang="en-US" sz="1400" dirty="0">
                <a:hlinkClick r:id="rId9"/>
              </a:rPr>
              <a:t>https://health-aid-relay.lovable.app/</a:t>
            </a:r>
            <a:endParaRPr lang="en-US" sz="1400" dirty="0"/>
          </a:p>
          <a:p>
            <a:pPr>
              <a:spcAft>
                <a:spcPts val="400"/>
              </a:spcAft>
              <a:defRPr sz="1300">
                <a:solidFill>
                  <a:srgbClr val="23313A"/>
                </a:solidFill>
                <a:latin typeface="Aptos"/>
              </a:defRPr>
            </a:pPr>
            <a:endParaRPr sz="1400" dirty="0"/>
          </a:p>
          <a:p>
            <a:pPr>
              <a:spcAft>
                <a:spcPts val="400"/>
              </a:spcAft>
              <a:defRPr sz="1300">
                <a:solidFill>
                  <a:srgbClr val="23313A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54401" y="6434031"/>
            <a:ext cx="5026742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@HackNova – Student Innovation and Technology ideas in Tertiary Sectors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691" y="497750"/>
            <a:ext cx="1425677" cy="534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3351</TotalTime>
  <Words>565</Words>
  <Application>Microsoft Office PowerPoint</Application>
  <PresentationFormat>Widescreen</PresentationFormat>
  <Paragraphs>95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PGothic</vt:lpstr>
      <vt:lpstr>Aptos</vt:lpstr>
      <vt:lpstr>Arial</vt:lpstr>
      <vt:lpstr>Calibri</vt:lpstr>
      <vt:lpstr>Garamond</vt:lpstr>
      <vt:lpstr>Lucida Fax</vt:lpstr>
      <vt:lpstr>TradeGothic</vt:lpstr>
      <vt:lpstr>Office Theme</vt:lpstr>
      <vt:lpstr>SMART INDIA HACKATHON 2026</vt:lpstr>
      <vt:lpstr> </vt:lpstr>
      <vt:lpstr>TECHNICAL APPROACH</vt:lpstr>
      <vt:lpstr>PowerPoint Presentation</vt:lpstr>
      <vt:lpstr>MAIN IMPACTS AND BENEFITS</vt:lpstr>
      <vt:lpstr>RESEARCH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Bala Harshith</cp:lastModifiedBy>
  <cp:revision>169</cp:revision>
  <dcterms:created xsi:type="dcterms:W3CDTF">2013-12-12T18:46:00Z</dcterms:created>
  <dcterms:modified xsi:type="dcterms:W3CDTF">2026-09-10T02:20:19Z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05591BE55D4646319575A75D4621361D_12</vt:lpwstr>
  </property>
</Properties>
</file>